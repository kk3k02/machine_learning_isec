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4" r:id="rId3"/>
    <p:sldId id="257" r:id="rId4"/>
    <p:sldId id="265" r:id="rId5"/>
    <p:sldId id="266" r:id="rId6"/>
    <p:sldId id="258" r:id="rId7"/>
    <p:sldId id="260" r:id="rId8"/>
    <p:sldId id="262" r:id="rId9"/>
    <p:sldId id="267" r:id="rId10"/>
    <p:sldId id="263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1B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77468"/>
  </p:normalViewPr>
  <p:slideViewPr>
    <p:cSldViewPr snapToGrid="0">
      <p:cViewPr>
        <p:scale>
          <a:sx n="79" d="100"/>
          <a:sy n="79" d="100"/>
        </p:scale>
        <p:origin x="55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6.png"/><Relationship Id="rId7" Type="http://schemas.openxmlformats.org/officeDocument/2006/relationships/image" Target="../media/image21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6.png"/><Relationship Id="rId7" Type="http://schemas.openxmlformats.org/officeDocument/2006/relationships/image" Target="../media/image21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613F78-B0DE-4DB7-869F-AFE584CBF12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CF4C85E-3E9F-4C6D-8D16-8780E86F9A3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Understand the dataset structure and medical context</a:t>
          </a:r>
        </a:p>
      </dgm:t>
    </dgm:pt>
    <dgm:pt modelId="{81E9548B-8E9D-4BE0-97C9-E1A5D537B673}" type="parTrans" cxnId="{49E87123-7629-4E9E-A41F-86EBF0E7EDDE}">
      <dgm:prSet/>
      <dgm:spPr/>
      <dgm:t>
        <a:bodyPr/>
        <a:lstStyle/>
        <a:p>
          <a:endParaRPr lang="en-US"/>
        </a:p>
      </dgm:t>
    </dgm:pt>
    <dgm:pt modelId="{40EACA98-1131-4F3E-A6C2-EF7ED543237A}" type="sibTrans" cxnId="{49E87123-7629-4E9E-A41F-86EBF0E7EDDE}">
      <dgm:prSet/>
      <dgm:spPr/>
      <dgm:t>
        <a:bodyPr/>
        <a:lstStyle/>
        <a:p>
          <a:endParaRPr lang="en-US"/>
        </a:p>
      </dgm:t>
    </dgm:pt>
    <dgm:pt modelId="{CAD9BE9E-D604-4118-97D1-20F52AEE728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Ensure data quality and integrity</a:t>
          </a:r>
        </a:p>
      </dgm:t>
    </dgm:pt>
    <dgm:pt modelId="{62A8D3F7-ED00-4DC8-AB02-5E4CD13E0CB1}" type="parTrans" cxnId="{8AB15214-7942-42E5-B7E3-3047756EA338}">
      <dgm:prSet/>
      <dgm:spPr/>
      <dgm:t>
        <a:bodyPr/>
        <a:lstStyle/>
        <a:p>
          <a:endParaRPr lang="en-US"/>
        </a:p>
      </dgm:t>
    </dgm:pt>
    <dgm:pt modelId="{ECD8C28A-80C1-4205-BCA7-170517D9FE63}" type="sibTrans" cxnId="{8AB15214-7942-42E5-B7E3-3047756EA338}">
      <dgm:prSet/>
      <dgm:spPr/>
      <dgm:t>
        <a:bodyPr/>
        <a:lstStyle/>
        <a:p>
          <a:endParaRPr lang="en-US"/>
        </a:p>
      </dgm:t>
    </dgm:pt>
    <dgm:pt modelId="{6717206F-0C76-4F3B-BA6C-F3FDFCA036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Build a reproducible preprocessing pipeline</a:t>
          </a:r>
        </a:p>
      </dgm:t>
    </dgm:pt>
    <dgm:pt modelId="{6CDBFA29-72DC-4F73-BB3D-AD388F4F7F56}" type="parTrans" cxnId="{6A5F6EE2-01E6-4489-B9A2-05B52571DEAE}">
      <dgm:prSet/>
      <dgm:spPr/>
      <dgm:t>
        <a:bodyPr/>
        <a:lstStyle/>
        <a:p>
          <a:endParaRPr lang="en-US"/>
        </a:p>
      </dgm:t>
    </dgm:pt>
    <dgm:pt modelId="{3571D355-6701-4181-A203-59AEE17E8F67}" type="sibTrans" cxnId="{6A5F6EE2-01E6-4489-B9A2-05B52571DEAE}">
      <dgm:prSet/>
      <dgm:spPr/>
      <dgm:t>
        <a:bodyPr/>
        <a:lstStyle/>
        <a:p>
          <a:endParaRPr lang="en-US"/>
        </a:p>
      </dgm:t>
    </dgm:pt>
    <dgm:pt modelId="{DAF38970-B228-4EBA-95E1-91EFC297B59A}" type="pres">
      <dgm:prSet presAssocID="{D1613F78-B0DE-4DB7-869F-AFE584CBF129}" presName="root" presStyleCnt="0">
        <dgm:presLayoutVars>
          <dgm:dir/>
          <dgm:resizeHandles val="exact"/>
        </dgm:presLayoutVars>
      </dgm:prSet>
      <dgm:spPr/>
    </dgm:pt>
    <dgm:pt modelId="{752D2B40-5985-486E-AD29-38B368449F0E}" type="pres">
      <dgm:prSet presAssocID="{FCF4C85E-3E9F-4C6D-8D16-8780E86F9A39}" presName="compNode" presStyleCnt="0"/>
      <dgm:spPr/>
    </dgm:pt>
    <dgm:pt modelId="{8B129E22-8B41-469C-BB8D-43C8D6CBBCB0}" type="pres">
      <dgm:prSet presAssocID="{FCF4C85E-3E9F-4C6D-8D16-8780E86F9A39}" presName="bgRect" presStyleLbl="bgShp" presStyleIdx="0" presStyleCnt="3"/>
      <dgm:spPr/>
    </dgm:pt>
    <dgm:pt modelId="{720DA602-3FD5-44EC-BD13-388AEEB3CEFA}" type="pres">
      <dgm:prSet presAssocID="{FCF4C85E-3E9F-4C6D-8D16-8780E86F9A3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EA8F1A0C-5803-4DE7-BA4A-768402C867E8}" type="pres">
      <dgm:prSet presAssocID="{FCF4C85E-3E9F-4C6D-8D16-8780E86F9A39}" presName="spaceRect" presStyleCnt="0"/>
      <dgm:spPr/>
    </dgm:pt>
    <dgm:pt modelId="{E0B4058F-3829-49CA-96B8-FE44C92A07A7}" type="pres">
      <dgm:prSet presAssocID="{FCF4C85E-3E9F-4C6D-8D16-8780E86F9A39}" presName="parTx" presStyleLbl="revTx" presStyleIdx="0" presStyleCnt="3">
        <dgm:presLayoutVars>
          <dgm:chMax val="0"/>
          <dgm:chPref val="0"/>
        </dgm:presLayoutVars>
      </dgm:prSet>
      <dgm:spPr/>
    </dgm:pt>
    <dgm:pt modelId="{9E6865A5-0156-476F-B986-F55CDD3129D8}" type="pres">
      <dgm:prSet presAssocID="{40EACA98-1131-4F3E-A6C2-EF7ED543237A}" presName="sibTrans" presStyleCnt="0"/>
      <dgm:spPr/>
    </dgm:pt>
    <dgm:pt modelId="{5B97C805-D8F6-4032-AE7A-9B106492CC9E}" type="pres">
      <dgm:prSet presAssocID="{CAD9BE9E-D604-4118-97D1-20F52AEE728E}" presName="compNode" presStyleCnt="0"/>
      <dgm:spPr/>
    </dgm:pt>
    <dgm:pt modelId="{94F96C76-60A4-4A74-97EF-115CD7A93AAF}" type="pres">
      <dgm:prSet presAssocID="{CAD9BE9E-D604-4118-97D1-20F52AEE728E}" presName="bgRect" presStyleLbl="bgShp" presStyleIdx="1" presStyleCnt="3"/>
      <dgm:spPr/>
    </dgm:pt>
    <dgm:pt modelId="{99EDBF57-68A3-491A-9650-60370022D364}" type="pres">
      <dgm:prSet presAssocID="{CAD9BE9E-D604-4118-97D1-20F52AEE728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57A6859D-FC1A-4A5D-87BF-D9E2322A8E89}" type="pres">
      <dgm:prSet presAssocID="{CAD9BE9E-D604-4118-97D1-20F52AEE728E}" presName="spaceRect" presStyleCnt="0"/>
      <dgm:spPr/>
    </dgm:pt>
    <dgm:pt modelId="{0A937508-CA54-4063-A49A-D5CD2FDAE6F5}" type="pres">
      <dgm:prSet presAssocID="{CAD9BE9E-D604-4118-97D1-20F52AEE728E}" presName="parTx" presStyleLbl="revTx" presStyleIdx="1" presStyleCnt="3">
        <dgm:presLayoutVars>
          <dgm:chMax val="0"/>
          <dgm:chPref val="0"/>
        </dgm:presLayoutVars>
      </dgm:prSet>
      <dgm:spPr/>
    </dgm:pt>
    <dgm:pt modelId="{946AADC4-D73D-40FF-B4D7-2D55BFFCB2DD}" type="pres">
      <dgm:prSet presAssocID="{ECD8C28A-80C1-4205-BCA7-170517D9FE63}" presName="sibTrans" presStyleCnt="0"/>
      <dgm:spPr/>
    </dgm:pt>
    <dgm:pt modelId="{A1BBF8FD-A9F4-46FB-8B09-1DD38AF78AF7}" type="pres">
      <dgm:prSet presAssocID="{6717206F-0C76-4F3B-BA6C-F3FDFCA0366B}" presName="compNode" presStyleCnt="0"/>
      <dgm:spPr/>
    </dgm:pt>
    <dgm:pt modelId="{6E89614C-C909-47C2-8FDB-2691F03BA884}" type="pres">
      <dgm:prSet presAssocID="{6717206F-0C76-4F3B-BA6C-F3FDFCA0366B}" presName="bgRect" presStyleLbl="bgShp" presStyleIdx="2" presStyleCnt="3"/>
      <dgm:spPr/>
    </dgm:pt>
    <dgm:pt modelId="{BD03791A-A513-4AE4-910C-AC12C03EFFCC}" type="pres">
      <dgm:prSet presAssocID="{6717206F-0C76-4F3B-BA6C-F3FDFCA0366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1A8A9D13-841D-437C-BCCE-C4A823BEE2E0}" type="pres">
      <dgm:prSet presAssocID="{6717206F-0C76-4F3B-BA6C-F3FDFCA0366B}" presName="spaceRect" presStyleCnt="0"/>
      <dgm:spPr/>
    </dgm:pt>
    <dgm:pt modelId="{09AA0752-D4BA-415C-B31C-0C44E52D6D71}" type="pres">
      <dgm:prSet presAssocID="{6717206F-0C76-4F3B-BA6C-F3FDFCA0366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AB15214-7942-42E5-B7E3-3047756EA338}" srcId="{D1613F78-B0DE-4DB7-869F-AFE584CBF129}" destId="{CAD9BE9E-D604-4118-97D1-20F52AEE728E}" srcOrd="1" destOrd="0" parTransId="{62A8D3F7-ED00-4DC8-AB02-5E4CD13E0CB1}" sibTransId="{ECD8C28A-80C1-4205-BCA7-170517D9FE63}"/>
    <dgm:cxn modelId="{49E87123-7629-4E9E-A41F-86EBF0E7EDDE}" srcId="{D1613F78-B0DE-4DB7-869F-AFE584CBF129}" destId="{FCF4C85E-3E9F-4C6D-8D16-8780E86F9A39}" srcOrd="0" destOrd="0" parTransId="{81E9548B-8E9D-4BE0-97C9-E1A5D537B673}" sibTransId="{40EACA98-1131-4F3E-A6C2-EF7ED543237A}"/>
    <dgm:cxn modelId="{D8D8A866-93CB-4A64-8D25-E4223C394FE4}" type="presOf" srcId="{D1613F78-B0DE-4DB7-869F-AFE584CBF129}" destId="{DAF38970-B228-4EBA-95E1-91EFC297B59A}" srcOrd="0" destOrd="0" presId="urn:microsoft.com/office/officeart/2018/2/layout/IconVerticalSolidList"/>
    <dgm:cxn modelId="{F7048FD5-6044-47FA-A41E-267FB0052A9A}" type="presOf" srcId="{FCF4C85E-3E9F-4C6D-8D16-8780E86F9A39}" destId="{E0B4058F-3829-49CA-96B8-FE44C92A07A7}" srcOrd="0" destOrd="0" presId="urn:microsoft.com/office/officeart/2018/2/layout/IconVerticalSolidList"/>
    <dgm:cxn modelId="{377938D6-1FD3-45EE-BCD9-A91152760675}" type="presOf" srcId="{6717206F-0C76-4F3B-BA6C-F3FDFCA0366B}" destId="{09AA0752-D4BA-415C-B31C-0C44E52D6D71}" srcOrd="0" destOrd="0" presId="urn:microsoft.com/office/officeart/2018/2/layout/IconVerticalSolidList"/>
    <dgm:cxn modelId="{6A5F6EE2-01E6-4489-B9A2-05B52571DEAE}" srcId="{D1613F78-B0DE-4DB7-869F-AFE584CBF129}" destId="{6717206F-0C76-4F3B-BA6C-F3FDFCA0366B}" srcOrd="2" destOrd="0" parTransId="{6CDBFA29-72DC-4F73-BB3D-AD388F4F7F56}" sibTransId="{3571D355-6701-4181-A203-59AEE17E8F67}"/>
    <dgm:cxn modelId="{A78545F2-3D31-4A06-8D28-C66B1CFCD0F4}" type="presOf" srcId="{CAD9BE9E-D604-4118-97D1-20F52AEE728E}" destId="{0A937508-CA54-4063-A49A-D5CD2FDAE6F5}" srcOrd="0" destOrd="0" presId="urn:microsoft.com/office/officeart/2018/2/layout/IconVerticalSolidList"/>
    <dgm:cxn modelId="{A42C95AA-8246-4410-8C6E-C25D76932B5E}" type="presParOf" srcId="{DAF38970-B228-4EBA-95E1-91EFC297B59A}" destId="{752D2B40-5985-486E-AD29-38B368449F0E}" srcOrd="0" destOrd="0" presId="urn:microsoft.com/office/officeart/2018/2/layout/IconVerticalSolidList"/>
    <dgm:cxn modelId="{F7C1FADB-A0DD-4AC0-B072-3CDBD4A1097A}" type="presParOf" srcId="{752D2B40-5985-486E-AD29-38B368449F0E}" destId="{8B129E22-8B41-469C-BB8D-43C8D6CBBCB0}" srcOrd="0" destOrd="0" presId="urn:microsoft.com/office/officeart/2018/2/layout/IconVerticalSolidList"/>
    <dgm:cxn modelId="{8B312F88-D6C6-43AF-8C6B-BFE72A053DED}" type="presParOf" srcId="{752D2B40-5985-486E-AD29-38B368449F0E}" destId="{720DA602-3FD5-44EC-BD13-388AEEB3CEFA}" srcOrd="1" destOrd="0" presId="urn:microsoft.com/office/officeart/2018/2/layout/IconVerticalSolidList"/>
    <dgm:cxn modelId="{9C5DECB9-2615-437B-9CA2-8FEEBA858A23}" type="presParOf" srcId="{752D2B40-5985-486E-AD29-38B368449F0E}" destId="{EA8F1A0C-5803-4DE7-BA4A-768402C867E8}" srcOrd="2" destOrd="0" presId="urn:microsoft.com/office/officeart/2018/2/layout/IconVerticalSolidList"/>
    <dgm:cxn modelId="{7FEF5DF1-5D35-4492-8A57-DB1A92B80EB2}" type="presParOf" srcId="{752D2B40-5985-486E-AD29-38B368449F0E}" destId="{E0B4058F-3829-49CA-96B8-FE44C92A07A7}" srcOrd="3" destOrd="0" presId="urn:microsoft.com/office/officeart/2018/2/layout/IconVerticalSolidList"/>
    <dgm:cxn modelId="{BFACB6F9-33D4-4DF9-BFA3-CA5C7E6E1F92}" type="presParOf" srcId="{DAF38970-B228-4EBA-95E1-91EFC297B59A}" destId="{9E6865A5-0156-476F-B986-F55CDD3129D8}" srcOrd="1" destOrd="0" presId="urn:microsoft.com/office/officeart/2018/2/layout/IconVerticalSolidList"/>
    <dgm:cxn modelId="{FB6FB0E9-05BA-4903-AED1-69FC46792B5D}" type="presParOf" srcId="{DAF38970-B228-4EBA-95E1-91EFC297B59A}" destId="{5B97C805-D8F6-4032-AE7A-9B106492CC9E}" srcOrd="2" destOrd="0" presId="urn:microsoft.com/office/officeart/2018/2/layout/IconVerticalSolidList"/>
    <dgm:cxn modelId="{AED98C12-AE8F-48C8-ACE9-E921AAC6BA2D}" type="presParOf" srcId="{5B97C805-D8F6-4032-AE7A-9B106492CC9E}" destId="{94F96C76-60A4-4A74-97EF-115CD7A93AAF}" srcOrd="0" destOrd="0" presId="urn:microsoft.com/office/officeart/2018/2/layout/IconVerticalSolidList"/>
    <dgm:cxn modelId="{AE759DB5-6C22-4CE4-A403-CEC3D3A22F6A}" type="presParOf" srcId="{5B97C805-D8F6-4032-AE7A-9B106492CC9E}" destId="{99EDBF57-68A3-491A-9650-60370022D364}" srcOrd="1" destOrd="0" presId="urn:microsoft.com/office/officeart/2018/2/layout/IconVerticalSolidList"/>
    <dgm:cxn modelId="{45F8AD92-137D-4C5A-866F-6E0F00DD28FC}" type="presParOf" srcId="{5B97C805-D8F6-4032-AE7A-9B106492CC9E}" destId="{57A6859D-FC1A-4A5D-87BF-D9E2322A8E89}" srcOrd="2" destOrd="0" presId="urn:microsoft.com/office/officeart/2018/2/layout/IconVerticalSolidList"/>
    <dgm:cxn modelId="{69D0B322-36B9-489C-89FD-EEFAA093B68E}" type="presParOf" srcId="{5B97C805-D8F6-4032-AE7A-9B106492CC9E}" destId="{0A937508-CA54-4063-A49A-D5CD2FDAE6F5}" srcOrd="3" destOrd="0" presId="urn:microsoft.com/office/officeart/2018/2/layout/IconVerticalSolidList"/>
    <dgm:cxn modelId="{D91A4767-9B28-400C-BAF4-C86E063D4088}" type="presParOf" srcId="{DAF38970-B228-4EBA-95E1-91EFC297B59A}" destId="{946AADC4-D73D-40FF-B4D7-2D55BFFCB2DD}" srcOrd="3" destOrd="0" presId="urn:microsoft.com/office/officeart/2018/2/layout/IconVerticalSolidList"/>
    <dgm:cxn modelId="{D7C71F80-8C56-4D41-B81E-DBB5A9D6A2BA}" type="presParOf" srcId="{DAF38970-B228-4EBA-95E1-91EFC297B59A}" destId="{A1BBF8FD-A9F4-46FB-8B09-1DD38AF78AF7}" srcOrd="4" destOrd="0" presId="urn:microsoft.com/office/officeart/2018/2/layout/IconVerticalSolidList"/>
    <dgm:cxn modelId="{BFD52479-47FF-4CCB-BF92-49CCC14B8A75}" type="presParOf" srcId="{A1BBF8FD-A9F4-46FB-8B09-1DD38AF78AF7}" destId="{6E89614C-C909-47C2-8FDB-2691F03BA884}" srcOrd="0" destOrd="0" presId="urn:microsoft.com/office/officeart/2018/2/layout/IconVerticalSolidList"/>
    <dgm:cxn modelId="{70F8D759-71A3-459E-9E91-47CED1E949E0}" type="presParOf" srcId="{A1BBF8FD-A9F4-46FB-8B09-1DD38AF78AF7}" destId="{BD03791A-A513-4AE4-910C-AC12C03EFFCC}" srcOrd="1" destOrd="0" presId="urn:microsoft.com/office/officeart/2018/2/layout/IconVerticalSolidList"/>
    <dgm:cxn modelId="{74D5ED55-2E2F-4C9A-8FA4-463A7DCD7AF5}" type="presParOf" srcId="{A1BBF8FD-A9F4-46FB-8B09-1DD38AF78AF7}" destId="{1A8A9D13-841D-437C-BCCE-C4A823BEE2E0}" srcOrd="2" destOrd="0" presId="urn:microsoft.com/office/officeart/2018/2/layout/IconVerticalSolidList"/>
    <dgm:cxn modelId="{5E1231B9-5745-4D04-BD02-C4E6EA62E37F}" type="presParOf" srcId="{A1BBF8FD-A9F4-46FB-8B09-1DD38AF78AF7}" destId="{09AA0752-D4BA-415C-B31C-0C44E52D6D7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7014D08-3A62-4C4C-994F-2AE1EE585573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620D289-F87B-454E-96B9-AAC8BEF643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 understood</a:t>
          </a:r>
        </a:p>
      </dgm:t>
    </dgm:pt>
    <dgm:pt modelId="{34FE441C-52AE-4657-A586-6C72E55ACA6E}" type="parTrans" cxnId="{FB1ECBA5-B771-4B5E-8BB8-E0051252AF3A}">
      <dgm:prSet/>
      <dgm:spPr/>
      <dgm:t>
        <a:bodyPr/>
        <a:lstStyle/>
        <a:p>
          <a:endParaRPr lang="en-US"/>
        </a:p>
      </dgm:t>
    </dgm:pt>
    <dgm:pt modelId="{75E5535F-FC47-41A6-B48C-8655938540A7}" type="sibTrans" cxnId="{FB1ECBA5-B771-4B5E-8BB8-E0051252AF3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C5A238B-4522-4E45-8E37-D6CE1A168BD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Clean and validated dataset</a:t>
          </a:r>
        </a:p>
      </dgm:t>
    </dgm:pt>
    <dgm:pt modelId="{49C38952-3E94-4210-A389-4BED929FD839}" type="parTrans" cxnId="{816A84FE-9B45-4510-8496-13091CF8609A}">
      <dgm:prSet/>
      <dgm:spPr/>
      <dgm:t>
        <a:bodyPr/>
        <a:lstStyle/>
        <a:p>
          <a:endParaRPr lang="en-US"/>
        </a:p>
      </dgm:t>
    </dgm:pt>
    <dgm:pt modelId="{FA125896-1B24-4BF6-8AC8-D11E809BE0B9}" type="sibTrans" cxnId="{816A84FE-9B45-4510-8496-13091CF8609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C9EEDFD-CF2E-40BB-BF1F-4B6AD3E2747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Pipeline ready for ML</a:t>
          </a:r>
        </a:p>
      </dgm:t>
    </dgm:pt>
    <dgm:pt modelId="{D5E65C92-4B2D-4E21-882E-4C10CD7BDFE2}" type="parTrans" cxnId="{2BA1D7B5-DC96-4CFC-A483-C36B2EE8802F}">
      <dgm:prSet/>
      <dgm:spPr/>
      <dgm:t>
        <a:bodyPr/>
        <a:lstStyle/>
        <a:p>
          <a:endParaRPr lang="en-US"/>
        </a:p>
      </dgm:t>
    </dgm:pt>
    <dgm:pt modelId="{8489E89E-14AC-410D-9095-0E7A1BF017FD}" type="sibTrans" cxnId="{2BA1D7B5-DC96-4CFC-A483-C36B2EE8802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5F816BC-C49F-4104-9281-EB3212E0F0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Baseline accuracy: 85%</a:t>
          </a:r>
        </a:p>
      </dgm:t>
    </dgm:pt>
    <dgm:pt modelId="{94D03573-09CB-434E-9EFF-09DEDB3D670A}" type="parTrans" cxnId="{9D03C00B-3833-4D4B-A49F-C60EC6ECB397}">
      <dgm:prSet/>
      <dgm:spPr/>
      <dgm:t>
        <a:bodyPr/>
        <a:lstStyle/>
        <a:p>
          <a:endParaRPr lang="en-US"/>
        </a:p>
      </dgm:t>
    </dgm:pt>
    <dgm:pt modelId="{A017FA49-A483-4D8C-BB7E-F2F1F942F07A}" type="sibTrans" cxnId="{9D03C00B-3833-4D4B-A49F-C60EC6ECB397}">
      <dgm:prSet/>
      <dgm:spPr/>
      <dgm:t>
        <a:bodyPr/>
        <a:lstStyle/>
        <a:p>
          <a:endParaRPr lang="en-US"/>
        </a:p>
      </dgm:t>
    </dgm:pt>
    <dgm:pt modelId="{44A7FDD7-5340-4C90-AE1F-C983F944E2C3}" type="pres">
      <dgm:prSet presAssocID="{A7014D08-3A62-4C4C-994F-2AE1EE585573}" presName="root" presStyleCnt="0">
        <dgm:presLayoutVars>
          <dgm:dir/>
          <dgm:resizeHandles val="exact"/>
        </dgm:presLayoutVars>
      </dgm:prSet>
      <dgm:spPr/>
    </dgm:pt>
    <dgm:pt modelId="{F588FCC6-5BDD-4729-8061-14887C924340}" type="pres">
      <dgm:prSet presAssocID="{A7014D08-3A62-4C4C-994F-2AE1EE585573}" presName="container" presStyleCnt="0">
        <dgm:presLayoutVars>
          <dgm:dir/>
          <dgm:resizeHandles val="exact"/>
        </dgm:presLayoutVars>
      </dgm:prSet>
      <dgm:spPr/>
    </dgm:pt>
    <dgm:pt modelId="{D995A157-F1E7-4F3B-8B1E-7CCAE1636E2D}" type="pres">
      <dgm:prSet presAssocID="{5620D289-F87B-454E-96B9-AAC8BEF643F3}" presName="compNode" presStyleCnt="0"/>
      <dgm:spPr/>
    </dgm:pt>
    <dgm:pt modelId="{29714FB1-9270-4472-AC62-258445E8A060}" type="pres">
      <dgm:prSet presAssocID="{5620D289-F87B-454E-96B9-AAC8BEF643F3}" presName="iconBgRect" presStyleLbl="bgShp" presStyleIdx="0" presStyleCnt="4"/>
      <dgm:spPr/>
    </dgm:pt>
    <dgm:pt modelId="{2912B6C3-FAF0-42EE-BA5B-7697D402065B}" type="pres">
      <dgm:prSet presAssocID="{5620D289-F87B-454E-96B9-AAC8BEF643F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43499C3-158A-4A21-BFA6-034A78E41666}" type="pres">
      <dgm:prSet presAssocID="{5620D289-F87B-454E-96B9-AAC8BEF643F3}" presName="spaceRect" presStyleCnt="0"/>
      <dgm:spPr/>
    </dgm:pt>
    <dgm:pt modelId="{94D93862-F23E-4C38-B858-A30FCD328A06}" type="pres">
      <dgm:prSet presAssocID="{5620D289-F87B-454E-96B9-AAC8BEF643F3}" presName="textRect" presStyleLbl="revTx" presStyleIdx="0" presStyleCnt="4">
        <dgm:presLayoutVars>
          <dgm:chMax val="1"/>
          <dgm:chPref val="1"/>
        </dgm:presLayoutVars>
      </dgm:prSet>
      <dgm:spPr/>
    </dgm:pt>
    <dgm:pt modelId="{37A9B038-0EAC-461B-AEFB-FB81FA35E220}" type="pres">
      <dgm:prSet presAssocID="{75E5535F-FC47-41A6-B48C-8655938540A7}" presName="sibTrans" presStyleLbl="sibTrans2D1" presStyleIdx="0" presStyleCnt="0"/>
      <dgm:spPr/>
    </dgm:pt>
    <dgm:pt modelId="{CA5CA703-4C55-4179-ADE1-9AA2D9F4EE6F}" type="pres">
      <dgm:prSet presAssocID="{7C5A238B-4522-4E45-8E37-D6CE1A168BD6}" presName="compNode" presStyleCnt="0"/>
      <dgm:spPr/>
    </dgm:pt>
    <dgm:pt modelId="{4CFBCD4D-8FEF-4BBD-8F81-3E66C48FC61A}" type="pres">
      <dgm:prSet presAssocID="{7C5A238B-4522-4E45-8E37-D6CE1A168BD6}" presName="iconBgRect" presStyleLbl="bgShp" presStyleIdx="1" presStyleCnt="4"/>
      <dgm:spPr/>
    </dgm:pt>
    <dgm:pt modelId="{527604C3-CD5B-45D5-9216-8843E48EBDFB}" type="pres">
      <dgm:prSet presAssocID="{7C5A238B-4522-4E45-8E37-D6CE1A168BD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4DE81B8-C9EE-4B68-A903-833CE1EEE1F4}" type="pres">
      <dgm:prSet presAssocID="{7C5A238B-4522-4E45-8E37-D6CE1A168BD6}" presName="spaceRect" presStyleCnt="0"/>
      <dgm:spPr/>
    </dgm:pt>
    <dgm:pt modelId="{F0C5C841-32EA-4991-9E12-2BE4BEB195A0}" type="pres">
      <dgm:prSet presAssocID="{7C5A238B-4522-4E45-8E37-D6CE1A168BD6}" presName="textRect" presStyleLbl="revTx" presStyleIdx="1" presStyleCnt="4">
        <dgm:presLayoutVars>
          <dgm:chMax val="1"/>
          <dgm:chPref val="1"/>
        </dgm:presLayoutVars>
      </dgm:prSet>
      <dgm:spPr/>
    </dgm:pt>
    <dgm:pt modelId="{8325C286-3C3F-464D-8167-DA664A1E4CA4}" type="pres">
      <dgm:prSet presAssocID="{FA125896-1B24-4BF6-8AC8-D11E809BE0B9}" presName="sibTrans" presStyleLbl="sibTrans2D1" presStyleIdx="0" presStyleCnt="0"/>
      <dgm:spPr/>
    </dgm:pt>
    <dgm:pt modelId="{129336D0-BBAF-4C7D-8283-98C2D7A944B3}" type="pres">
      <dgm:prSet presAssocID="{EC9EEDFD-CF2E-40BB-BF1F-4B6AD3E27471}" presName="compNode" presStyleCnt="0"/>
      <dgm:spPr/>
    </dgm:pt>
    <dgm:pt modelId="{EBC7A385-E614-4423-B159-82BFF8964CFF}" type="pres">
      <dgm:prSet presAssocID="{EC9EEDFD-CF2E-40BB-BF1F-4B6AD3E27471}" presName="iconBgRect" presStyleLbl="bgShp" presStyleIdx="2" presStyleCnt="4"/>
      <dgm:spPr/>
    </dgm:pt>
    <dgm:pt modelId="{A8184E0A-301B-4B1E-93DC-C137C5502300}" type="pres">
      <dgm:prSet presAssocID="{EC9EEDFD-CF2E-40BB-BF1F-4B6AD3E2747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2BFEE62A-41D5-423A-8F4B-B93F8311FD09}" type="pres">
      <dgm:prSet presAssocID="{EC9EEDFD-CF2E-40BB-BF1F-4B6AD3E27471}" presName="spaceRect" presStyleCnt="0"/>
      <dgm:spPr/>
    </dgm:pt>
    <dgm:pt modelId="{666A37F1-2D73-420C-A0A0-970F906724B5}" type="pres">
      <dgm:prSet presAssocID="{EC9EEDFD-CF2E-40BB-BF1F-4B6AD3E27471}" presName="textRect" presStyleLbl="revTx" presStyleIdx="2" presStyleCnt="4">
        <dgm:presLayoutVars>
          <dgm:chMax val="1"/>
          <dgm:chPref val="1"/>
        </dgm:presLayoutVars>
      </dgm:prSet>
      <dgm:spPr/>
    </dgm:pt>
    <dgm:pt modelId="{8E16077B-A906-46F3-BF89-1CD1F6B8CC75}" type="pres">
      <dgm:prSet presAssocID="{8489E89E-14AC-410D-9095-0E7A1BF017FD}" presName="sibTrans" presStyleLbl="sibTrans2D1" presStyleIdx="0" presStyleCnt="0"/>
      <dgm:spPr/>
    </dgm:pt>
    <dgm:pt modelId="{2CA94709-526F-4D3F-888C-7C2574ECA13A}" type="pres">
      <dgm:prSet presAssocID="{85F816BC-C49F-4104-9281-EB3212E0F031}" presName="compNode" presStyleCnt="0"/>
      <dgm:spPr/>
    </dgm:pt>
    <dgm:pt modelId="{6061A543-B481-4575-8B99-A4464ABDC847}" type="pres">
      <dgm:prSet presAssocID="{85F816BC-C49F-4104-9281-EB3212E0F031}" presName="iconBgRect" presStyleLbl="bgShp" presStyleIdx="3" presStyleCnt="4"/>
      <dgm:spPr/>
    </dgm:pt>
    <dgm:pt modelId="{CFABD41A-3F70-412A-AAF7-7A19AB0A5078}" type="pres">
      <dgm:prSet presAssocID="{85F816BC-C49F-4104-9281-EB3212E0F03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F19113F6-43A9-4BFD-AEAB-3C2A728DAA59}" type="pres">
      <dgm:prSet presAssocID="{85F816BC-C49F-4104-9281-EB3212E0F031}" presName="spaceRect" presStyleCnt="0"/>
      <dgm:spPr/>
    </dgm:pt>
    <dgm:pt modelId="{BDA42878-E81D-4576-AEC5-893D3B1FFEF2}" type="pres">
      <dgm:prSet presAssocID="{85F816BC-C49F-4104-9281-EB3212E0F03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D03C00B-3833-4D4B-A49F-C60EC6ECB397}" srcId="{A7014D08-3A62-4C4C-994F-2AE1EE585573}" destId="{85F816BC-C49F-4104-9281-EB3212E0F031}" srcOrd="3" destOrd="0" parTransId="{94D03573-09CB-434E-9EFF-09DEDB3D670A}" sibTransId="{A017FA49-A483-4D8C-BB7E-F2F1F942F07A}"/>
    <dgm:cxn modelId="{5C7D770E-F0DC-47E0-AA7C-4E9BC19D2A7E}" type="presOf" srcId="{5620D289-F87B-454E-96B9-AAC8BEF643F3}" destId="{94D93862-F23E-4C38-B858-A30FCD328A06}" srcOrd="0" destOrd="0" presId="urn:microsoft.com/office/officeart/2018/2/layout/IconCircleList"/>
    <dgm:cxn modelId="{72E1AA2A-8D6F-4D51-A650-284D2FD17F95}" type="presOf" srcId="{8489E89E-14AC-410D-9095-0E7A1BF017FD}" destId="{8E16077B-A906-46F3-BF89-1CD1F6B8CC75}" srcOrd="0" destOrd="0" presId="urn:microsoft.com/office/officeart/2018/2/layout/IconCircleList"/>
    <dgm:cxn modelId="{35569743-A9A9-4DFA-BB7A-AA7129C71699}" type="presOf" srcId="{85F816BC-C49F-4104-9281-EB3212E0F031}" destId="{BDA42878-E81D-4576-AEC5-893D3B1FFEF2}" srcOrd="0" destOrd="0" presId="urn:microsoft.com/office/officeart/2018/2/layout/IconCircleList"/>
    <dgm:cxn modelId="{332A0F4F-CB0A-4A02-BE3D-DC918F020E11}" type="presOf" srcId="{A7014D08-3A62-4C4C-994F-2AE1EE585573}" destId="{44A7FDD7-5340-4C90-AE1F-C983F944E2C3}" srcOrd="0" destOrd="0" presId="urn:microsoft.com/office/officeart/2018/2/layout/IconCircleList"/>
    <dgm:cxn modelId="{1BCD246B-882A-4D7B-9BDA-E228F24853DF}" type="presOf" srcId="{7C5A238B-4522-4E45-8E37-D6CE1A168BD6}" destId="{F0C5C841-32EA-4991-9E12-2BE4BEB195A0}" srcOrd="0" destOrd="0" presId="urn:microsoft.com/office/officeart/2018/2/layout/IconCircleList"/>
    <dgm:cxn modelId="{FB1ECBA5-B771-4B5E-8BB8-E0051252AF3A}" srcId="{A7014D08-3A62-4C4C-994F-2AE1EE585573}" destId="{5620D289-F87B-454E-96B9-AAC8BEF643F3}" srcOrd="0" destOrd="0" parTransId="{34FE441C-52AE-4657-A586-6C72E55ACA6E}" sibTransId="{75E5535F-FC47-41A6-B48C-8655938540A7}"/>
    <dgm:cxn modelId="{2BA1D7B5-DC96-4CFC-A483-C36B2EE8802F}" srcId="{A7014D08-3A62-4C4C-994F-2AE1EE585573}" destId="{EC9EEDFD-CF2E-40BB-BF1F-4B6AD3E27471}" srcOrd="2" destOrd="0" parTransId="{D5E65C92-4B2D-4E21-882E-4C10CD7BDFE2}" sibTransId="{8489E89E-14AC-410D-9095-0E7A1BF017FD}"/>
    <dgm:cxn modelId="{09B6FBC3-DFFD-441E-B144-B0811D3A3001}" type="presOf" srcId="{EC9EEDFD-CF2E-40BB-BF1F-4B6AD3E27471}" destId="{666A37F1-2D73-420C-A0A0-970F906724B5}" srcOrd="0" destOrd="0" presId="urn:microsoft.com/office/officeart/2018/2/layout/IconCircleList"/>
    <dgm:cxn modelId="{14B875D3-E8FB-4A69-896D-9E72CC295F52}" type="presOf" srcId="{FA125896-1B24-4BF6-8AC8-D11E809BE0B9}" destId="{8325C286-3C3F-464D-8167-DA664A1E4CA4}" srcOrd="0" destOrd="0" presId="urn:microsoft.com/office/officeart/2018/2/layout/IconCircleList"/>
    <dgm:cxn modelId="{816A84FE-9B45-4510-8496-13091CF8609A}" srcId="{A7014D08-3A62-4C4C-994F-2AE1EE585573}" destId="{7C5A238B-4522-4E45-8E37-D6CE1A168BD6}" srcOrd="1" destOrd="0" parTransId="{49C38952-3E94-4210-A389-4BED929FD839}" sibTransId="{FA125896-1B24-4BF6-8AC8-D11E809BE0B9}"/>
    <dgm:cxn modelId="{25B30CFF-36A0-48C6-B4A3-24A8370CB963}" type="presOf" srcId="{75E5535F-FC47-41A6-B48C-8655938540A7}" destId="{37A9B038-0EAC-461B-AEFB-FB81FA35E220}" srcOrd="0" destOrd="0" presId="urn:microsoft.com/office/officeart/2018/2/layout/IconCircleList"/>
    <dgm:cxn modelId="{3226E3FB-F93D-4075-AAF0-B2FD5BB66AF1}" type="presParOf" srcId="{44A7FDD7-5340-4C90-AE1F-C983F944E2C3}" destId="{F588FCC6-5BDD-4729-8061-14887C924340}" srcOrd="0" destOrd="0" presId="urn:microsoft.com/office/officeart/2018/2/layout/IconCircleList"/>
    <dgm:cxn modelId="{D3FBEA6B-D3F2-4482-8EAD-9303A635FC60}" type="presParOf" srcId="{F588FCC6-5BDD-4729-8061-14887C924340}" destId="{D995A157-F1E7-4F3B-8B1E-7CCAE1636E2D}" srcOrd="0" destOrd="0" presId="urn:microsoft.com/office/officeart/2018/2/layout/IconCircleList"/>
    <dgm:cxn modelId="{44E77218-61FD-4C2B-B2CA-D372EA421A65}" type="presParOf" srcId="{D995A157-F1E7-4F3B-8B1E-7CCAE1636E2D}" destId="{29714FB1-9270-4472-AC62-258445E8A060}" srcOrd="0" destOrd="0" presId="urn:microsoft.com/office/officeart/2018/2/layout/IconCircleList"/>
    <dgm:cxn modelId="{1A5DCC23-C966-4A60-9C3A-E4BF92B11682}" type="presParOf" srcId="{D995A157-F1E7-4F3B-8B1E-7CCAE1636E2D}" destId="{2912B6C3-FAF0-42EE-BA5B-7697D402065B}" srcOrd="1" destOrd="0" presId="urn:microsoft.com/office/officeart/2018/2/layout/IconCircleList"/>
    <dgm:cxn modelId="{EACE95C9-3A7E-4B51-B4B2-C7B95BBB325B}" type="presParOf" srcId="{D995A157-F1E7-4F3B-8B1E-7CCAE1636E2D}" destId="{643499C3-158A-4A21-BFA6-034A78E41666}" srcOrd="2" destOrd="0" presId="urn:microsoft.com/office/officeart/2018/2/layout/IconCircleList"/>
    <dgm:cxn modelId="{544B0AF8-70B4-4D6A-AD50-86EF7C31087D}" type="presParOf" srcId="{D995A157-F1E7-4F3B-8B1E-7CCAE1636E2D}" destId="{94D93862-F23E-4C38-B858-A30FCD328A06}" srcOrd="3" destOrd="0" presId="urn:microsoft.com/office/officeart/2018/2/layout/IconCircleList"/>
    <dgm:cxn modelId="{6C751ECF-4487-4679-92D7-853A20466697}" type="presParOf" srcId="{F588FCC6-5BDD-4729-8061-14887C924340}" destId="{37A9B038-0EAC-461B-AEFB-FB81FA35E220}" srcOrd="1" destOrd="0" presId="urn:microsoft.com/office/officeart/2018/2/layout/IconCircleList"/>
    <dgm:cxn modelId="{C1BC3EA1-2663-41A9-B893-C86C69A28FB0}" type="presParOf" srcId="{F588FCC6-5BDD-4729-8061-14887C924340}" destId="{CA5CA703-4C55-4179-ADE1-9AA2D9F4EE6F}" srcOrd="2" destOrd="0" presId="urn:microsoft.com/office/officeart/2018/2/layout/IconCircleList"/>
    <dgm:cxn modelId="{5BF3064A-5BF1-44C5-890D-A115F0E28D9A}" type="presParOf" srcId="{CA5CA703-4C55-4179-ADE1-9AA2D9F4EE6F}" destId="{4CFBCD4D-8FEF-4BBD-8F81-3E66C48FC61A}" srcOrd="0" destOrd="0" presId="urn:microsoft.com/office/officeart/2018/2/layout/IconCircleList"/>
    <dgm:cxn modelId="{AFEEB668-89CB-4213-B000-4BCE3A4A8E04}" type="presParOf" srcId="{CA5CA703-4C55-4179-ADE1-9AA2D9F4EE6F}" destId="{527604C3-CD5B-45D5-9216-8843E48EBDFB}" srcOrd="1" destOrd="0" presId="urn:microsoft.com/office/officeart/2018/2/layout/IconCircleList"/>
    <dgm:cxn modelId="{E505709B-3E34-49DF-B63C-C67136AF6F89}" type="presParOf" srcId="{CA5CA703-4C55-4179-ADE1-9AA2D9F4EE6F}" destId="{44DE81B8-C9EE-4B68-A903-833CE1EEE1F4}" srcOrd="2" destOrd="0" presId="urn:microsoft.com/office/officeart/2018/2/layout/IconCircleList"/>
    <dgm:cxn modelId="{9AB5BA4A-66B7-41AC-86FC-1916187A80DB}" type="presParOf" srcId="{CA5CA703-4C55-4179-ADE1-9AA2D9F4EE6F}" destId="{F0C5C841-32EA-4991-9E12-2BE4BEB195A0}" srcOrd="3" destOrd="0" presId="urn:microsoft.com/office/officeart/2018/2/layout/IconCircleList"/>
    <dgm:cxn modelId="{06712CD3-3FEC-40DA-8739-BBF8E76941C9}" type="presParOf" srcId="{F588FCC6-5BDD-4729-8061-14887C924340}" destId="{8325C286-3C3F-464D-8167-DA664A1E4CA4}" srcOrd="3" destOrd="0" presId="urn:microsoft.com/office/officeart/2018/2/layout/IconCircleList"/>
    <dgm:cxn modelId="{32572A0D-B8C4-4739-8C50-0514C2D6C8D6}" type="presParOf" srcId="{F588FCC6-5BDD-4729-8061-14887C924340}" destId="{129336D0-BBAF-4C7D-8283-98C2D7A944B3}" srcOrd="4" destOrd="0" presId="urn:microsoft.com/office/officeart/2018/2/layout/IconCircleList"/>
    <dgm:cxn modelId="{0AB64C13-54A9-4822-9285-4C3FF46DCF25}" type="presParOf" srcId="{129336D0-BBAF-4C7D-8283-98C2D7A944B3}" destId="{EBC7A385-E614-4423-B159-82BFF8964CFF}" srcOrd="0" destOrd="0" presId="urn:microsoft.com/office/officeart/2018/2/layout/IconCircleList"/>
    <dgm:cxn modelId="{557A3C26-37B7-4316-8F56-D7DE0C1B1602}" type="presParOf" srcId="{129336D0-BBAF-4C7D-8283-98C2D7A944B3}" destId="{A8184E0A-301B-4B1E-93DC-C137C5502300}" srcOrd="1" destOrd="0" presId="urn:microsoft.com/office/officeart/2018/2/layout/IconCircleList"/>
    <dgm:cxn modelId="{77A8D695-B961-4B9B-B13A-EFAA5DB31FA4}" type="presParOf" srcId="{129336D0-BBAF-4C7D-8283-98C2D7A944B3}" destId="{2BFEE62A-41D5-423A-8F4B-B93F8311FD09}" srcOrd="2" destOrd="0" presId="urn:microsoft.com/office/officeart/2018/2/layout/IconCircleList"/>
    <dgm:cxn modelId="{F342E194-C517-48A5-8918-1F439BCB8CB6}" type="presParOf" srcId="{129336D0-BBAF-4C7D-8283-98C2D7A944B3}" destId="{666A37F1-2D73-420C-A0A0-970F906724B5}" srcOrd="3" destOrd="0" presId="urn:microsoft.com/office/officeart/2018/2/layout/IconCircleList"/>
    <dgm:cxn modelId="{25E3265E-282D-4BCC-B59F-979EEC99D0AD}" type="presParOf" srcId="{F588FCC6-5BDD-4729-8061-14887C924340}" destId="{8E16077B-A906-46F3-BF89-1CD1F6B8CC75}" srcOrd="5" destOrd="0" presId="urn:microsoft.com/office/officeart/2018/2/layout/IconCircleList"/>
    <dgm:cxn modelId="{F431BF02-C6DC-4EA4-9913-8AEB3DF51650}" type="presParOf" srcId="{F588FCC6-5BDD-4729-8061-14887C924340}" destId="{2CA94709-526F-4D3F-888C-7C2574ECA13A}" srcOrd="6" destOrd="0" presId="urn:microsoft.com/office/officeart/2018/2/layout/IconCircleList"/>
    <dgm:cxn modelId="{1C30C8AB-E3D9-42A7-89D0-22A2384DBFD4}" type="presParOf" srcId="{2CA94709-526F-4D3F-888C-7C2574ECA13A}" destId="{6061A543-B481-4575-8B99-A4464ABDC847}" srcOrd="0" destOrd="0" presId="urn:microsoft.com/office/officeart/2018/2/layout/IconCircleList"/>
    <dgm:cxn modelId="{BEFAB555-368B-4A8B-981F-D140720B3915}" type="presParOf" srcId="{2CA94709-526F-4D3F-888C-7C2574ECA13A}" destId="{CFABD41A-3F70-412A-AAF7-7A19AB0A5078}" srcOrd="1" destOrd="0" presId="urn:microsoft.com/office/officeart/2018/2/layout/IconCircleList"/>
    <dgm:cxn modelId="{0EEBA352-BDD6-4A2C-9426-4E536F4A0193}" type="presParOf" srcId="{2CA94709-526F-4D3F-888C-7C2574ECA13A}" destId="{F19113F6-43A9-4BFD-AEAB-3C2A728DAA59}" srcOrd="2" destOrd="0" presId="urn:microsoft.com/office/officeart/2018/2/layout/IconCircleList"/>
    <dgm:cxn modelId="{0AA81394-A53C-405E-AFE4-29AE9D1074F1}" type="presParOf" srcId="{2CA94709-526F-4D3F-888C-7C2574ECA13A}" destId="{BDA42878-E81D-4576-AEC5-893D3B1FFEF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129E22-8B41-469C-BB8D-43C8D6CBBCB0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0DA602-3FD5-44EC-BD13-388AEEB3CEFA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B4058F-3829-49CA-96B8-FE44C92A07A7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Understand the dataset structure and medical context</a:t>
          </a:r>
        </a:p>
      </dsp:txBody>
      <dsp:txXfrm>
        <a:off x="1435590" y="531"/>
        <a:ext cx="9080009" cy="1242935"/>
      </dsp:txXfrm>
    </dsp:sp>
    <dsp:sp modelId="{94F96C76-60A4-4A74-97EF-115CD7A93AAF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EDBF57-68A3-491A-9650-60370022D364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937508-CA54-4063-A49A-D5CD2FDAE6F5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Ensure data quality and integrity</a:t>
          </a:r>
        </a:p>
      </dsp:txBody>
      <dsp:txXfrm>
        <a:off x="1435590" y="1554201"/>
        <a:ext cx="9080009" cy="1242935"/>
      </dsp:txXfrm>
    </dsp:sp>
    <dsp:sp modelId="{6E89614C-C909-47C2-8FDB-2691F03BA884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03791A-A513-4AE4-910C-AC12C03EFFCC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AA0752-D4BA-415C-B31C-0C44E52D6D71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Build a reproducible preprocessing pipeline</a:t>
          </a:r>
        </a:p>
      </dsp:txBody>
      <dsp:txXfrm>
        <a:off x="1435590" y="3107870"/>
        <a:ext cx="9080009" cy="12429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714FB1-9270-4472-AC62-258445E8A060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12B6C3-FAF0-42EE-BA5B-7697D402065B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D93862-F23E-4C38-B858-A30FCD328A06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Data understood</a:t>
          </a:r>
        </a:p>
      </dsp:txBody>
      <dsp:txXfrm>
        <a:off x="1834517" y="469890"/>
        <a:ext cx="3148942" cy="1335915"/>
      </dsp:txXfrm>
    </dsp:sp>
    <dsp:sp modelId="{4CFBCD4D-8FEF-4BBD-8F81-3E66C48FC61A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7604C3-CD5B-45D5-9216-8843E48EBDFB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C5C841-32EA-4991-9E12-2BE4BEB195A0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Clean and validated dataset</a:t>
          </a:r>
        </a:p>
      </dsp:txBody>
      <dsp:txXfrm>
        <a:off x="7154322" y="469890"/>
        <a:ext cx="3148942" cy="1335915"/>
      </dsp:txXfrm>
    </dsp:sp>
    <dsp:sp modelId="{EBC7A385-E614-4423-B159-82BFF8964CFF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184E0A-301B-4B1E-93DC-C137C5502300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6A37F1-2D73-420C-A0A0-970F906724B5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Pipeline ready for ML</a:t>
          </a:r>
        </a:p>
      </dsp:txBody>
      <dsp:txXfrm>
        <a:off x="1834517" y="2545532"/>
        <a:ext cx="3148942" cy="1335915"/>
      </dsp:txXfrm>
    </dsp:sp>
    <dsp:sp modelId="{6061A543-B481-4575-8B99-A4464ABDC847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ABD41A-3F70-412A-AAF7-7A19AB0A5078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A42878-E81D-4576-AEC5-893D3B1FFEF2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Baseline accuracy: 85%</a:t>
          </a:r>
        </a:p>
      </dsp:txBody>
      <dsp:txXfrm>
        <a:off x="7154322" y="2545532"/>
        <a:ext cx="3148942" cy="13359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D100E8-F0FA-804A-88A4-EEA1A4F27F7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7401E2-568D-2B45-951E-A0A8B6802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08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Hello. we present our Milestone 1 project.</a:t>
            </a:r>
            <a:br>
              <a:rPr lang="en-US" dirty="0"/>
            </a:br>
            <a:r>
              <a:rPr lang="en-US" dirty="0"/>
              <a:t>The goal of this stage was to explore, clean, and prepare a real-world dataset for machine learning — in our case, the Heart Disease dataset from Kaggle.</a:t>
            </a:r>
            <a:br>
              <a:rPr lang="en-US" dirty="0"/>
            </a:br>
            <a:r>
              <a:rPr lang="en-US" dirty="0"/>
              <a:t>we’ll show how we analyzed the data, verified its quality, built a preprocessing pipeline, and evaluated a baseline model.</a:t>
            </a:r>
            <a:br>
              <a:rPr lang="en-US" dirty="0"/>
            </a:br>
            <a:r>
              <a:rPr lang="en-US" dirty="0"/>
              <a:t>All results are reproducible and ready for further model development in Milestone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7401E2-568D-2B45-951E-A0A8B6802C6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821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main objectives were divided into three parts.</a:t>
            </a:r>
            <a:br>
              <a:rPr lang="en-US" dirty="0"/>
            </a:br>
            <a:r>
              <a:rPr lang="en-US" dirty="0"/>
              <a:t>First, to understand the dataset — what the attributes mean and how they relate to heart disease.</a:t>
            </a:r>
            <a:br>
              <a:rPr lang="en-US" dirty="0"/>
            </a:br>
            <a:r>
              <a:rPr lang="en-US" dirty="0"/>
              <a:t>Second, to ensure data quality by detecting and handling missing values, duplicates, and inconsistencies.</a:t>
            </a:r>
            <a:br>
              <a:rPr lang="en-US" dirty="0"/>
            </a:br>
            <a:r>
              <a:rPr lang="en-US" dirty="0"/>
              <a:t>And finally, to design a complete preprocessing pipeline that automatically performs encoding, scaling, and model training.</a:t>
            </a:r>
            <a:br>
              <a:rPr lang="en-US" dirty="0"/>
            </a:br>
            <a:r>
              <a:rPr lang="en-US" dirty="0"/>
              <a:t>This way, the entire process can be reproduced exactly the same way in the next stages.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7401E2-568D-2B45-951E-A0A8B6802C6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433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contains 14 features describing patient demographics and medical measurements.</a:t>
            </a:r>
            <a:br>
              <a:rPr lang="en-US" dirty="0"/>
            </a:br>
            <a:r>
              <a:rPr lang="en-US" dirty="0"/>
              <a:t>Each row represents one patient, and the target column indicates whether the patient has heart disease or not.</a:t>
            </a:r>
            <a:br>
              <a:rPr lang="en-US" dirty="0"/>
            </a:br>
            <a:r>
              <a:rPr lang="en-US" dirty="0"/>
              <a:t>It’s a classic binary classification problem used in many medical AI studies.</a:t>
            </a:r>
            <a:br>
              <a:rPr lang="en-US" dirty="0"/>
            </a:br>
            <a:r>
              <a:rPr lang="en-US" dirty="0"/>
              <a:t>The attributes cover key factors such as age, sex, blood pressure, cholesterol, ECG results, and exercise outcomes.</a:t>
            </a:r>
            <a:br>
              <a:rPr lang="en-US" dirty="0"/>
            </a:br>
            <a:r>
              <a:rPr lang="en-US" dirty="0"/>
              <a:t>This diversity makes it ideal for testing both data preprocessing and classification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7401E2-568D-2B45-951E-A0A8B6802C6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6721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we can see the descriptive statistics for the numerical variables.</a:t>
            </a:r>
            <a:br>
              <a:rPr lang="en-US" dirty="0"/>
            </a:br>
            <a:r>
              <a:rPr lang="en-US" dirty="0"/>
              <a:t>The average age of patients is around 54, with values ranging from 29 to 77 years old.</a:t>
            </a:r>
            <a:br>
              <a:rPr lang="en-US" dirty="0"/>
            </a:br>
            <a:r>
              <a:rPr lang="en-US" dirty="0"/>
              <a:t>The average cholesterol level is about 246 milligrams per deciliter, which fits typical clinical ranges.</a:t>
            </a:r>
            <a:br>
              <a:rPr lang="en-US" dirty="0"/>
            </a:br>
            <a:r>
              <a:rPr lang="en-US" dirty="0"/>
              <a:t>All features show reasonable variation and no extreme errors or unrealistic outliers.</a:t>
            </a:r>
            <a:br>
              <a:rPr lang="en-US" dirty="0"/>
            </a:br>
            <a:r>
              <a:rPr lang="en-US" dirty="0"/>
              <a:t>Additionally, all columns are complete — there are no missing values in the entire dataset.</a:t>
            </a:r>
            <a:br>
              <a:rPr lang="en-US" dirty="0"/>
            </a:br>
            <a:r>
              <a:rPr lang="en-US" dirty="0"/>
              <a:t>This is important because it means we can focus directly on transformation rather than data imputation.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7401E2-568D-2B45-951E-A0A8B6802C6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583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grouped features according to their type.</a:t>
            </a:r>
            <a:br>
              <a:rPr lang="en-US" dirty="0"/>
            </a:br>
            <a:r>
              <a:rPr lang="en-US" dirty="0"/>
              <a:t>Categorical variables like sex or chest pain type were One-Hot encoded, because we wanted to avoid implying any artificial order between categories.</a:t>
            </a:r>
            <a:br>
              <a:rPr lang="en-US" dirty="0"/>
            </a:br>
            <a:r>
              <a:rPr lang="en-US" dirty="0"/>
              <a:t>Ordinal and binary variables were treated carefully to preserve their medical meaning.</a:t>
            </a:r>
            <a:br>
              <a:rPr lang="en-US" dirty="0"/>
            </a:br>
            <a:r>
              <a:rPr lang="en-US" dirty="0"/>
              <a:t>Numerical variables such as cholesterol and maximum heart rate were standardized to make all features comparable in scale.</a:t>
            </a:r>
            <a:br>
              <a:rPr lang="en-US" dirty="0"/>
            </a:br>
            <a:r>
              <a:rPr lang="en-US" dirty="0"/>
              <a:t>This structured approach allows the model to interpret medical attributes correctly.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7401E2-568D-2B45-951E-A0A8B6802C6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0056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bar chart shows that our target variable is nearly balanced — around half of the patients have heart disease, and half do not.</a:t>
            </a:r>
            <a:br>
              <a:rPr lang="en-US" dirty="0"/>
            </a:br>
            <a:r>
              <a:rPr lang="en-US" dirty="0"/>
              <a:t>The correlation heatmap on the right shows how features relate to each other and to the target variable.</a:t>
            </a:r>
            <a:br>
              <a:rPr lang="en-US" dirty="0"/>
            </a:br>
            <a:r>
              <a:rPr lang="en-US" dirty="0"/>
              <a:t>We found that maximum heart rate and chest pain type have strong positive correlations with the target, meaning higher values often indicate disease presence.</a:t>
            </a:r>
            <a:br>
              <a:rPr lang="en-US" dirty="0"/>
            </a:br>
            <a:r>
              <a:rPr lang="en-US" dirty="0"/>
              <a:t>On the other hand, ST depression and exercise-induced angina are negatively correlated, suggesting healthier patients tend to have lower values of these indicators.</a:t>
            </a:r>
            <a:br>
              <a:rPr lang="en-US" dirty="0"/>
            </a:br>
            <a:r>
              <a:rPr lang="en-US" dirty="0"/>
              <a:t>This confirms that the dataset behaves as expected medically.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7401E2-568D-2B45-951E-A0A8B6802C6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50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applying machine learning, we verified data quality.</a:t>
            </a:r>
            <a:br>
              <a:rPr lang="en-US" dirty="0"/>
            </a:br>
            <a:r>
              <a:rPr lang="en-US" dirty="0"/>
              <a:t>There were no missing values and all columns had consistent data types.</a:t>
            </a:r>
            <a:br>
              <a:rPr lang="en-US" dirty="0"/>
            </a:br>
            <a:r>
              <a:rPr lang="en-US" dirty="0"/>
              <a:t>We also checked for duplicate records and handled them automatically.</a:t>
            </a:r>
            <a:br>
              <a:rPr lang="en-US" dirty="0"/>
            </a:br>
            <a:r>
              <a:rPr lang="en-US" dirty="0"/>
              <a:t>After validation, the dataset was clean, reliable, and ready for the preprocessing pipeline.</a:t>
            </a:r>
            <a:br>
              <a:rPr lang="en-US" dirty="0"/>
            </a:br>
            <a:r>
              <a:rPr lang="en-US" dirty="0"/>
              <a:t>Ensuring data integrity at this stage is essential to prevent bias and training errors later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7401E2-568D-2B45-951E-A0A8B6802C6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1955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you can see the main component of our project — the preprocessing pipeline.</a:t>
            </a:r>
            <a:br>
              <a:rPr lang="en-US" dirty="0"/>
            </a:br>
            <a:r>
              <a:rPr lang="en-US" dirty="0"/>
              <a:t>Using a </a:t>
            </a:r>
            <a:r>
              <a:rPr lang="en-US" dirty="0" err="1"/>
              <a:t>ColumnTransformer</a:t>
            </a:r>
            <a:r>
              <a:rPr lang="en-US" dirty="0"/>
              <a:t>, we applied different transformations to categorical and numerical features in one consistent workflow.</a:t>
            </a:r>
            <a:br>
              <a:rPr lang="en-US" dirty="0"/>
            </a:br>
            <a:r>
              <a:rPr lang="en-US" dirty="0"/>
              <a:t>Then, we attached a Logistic Regression model as our baseline classifier.</a:t>
            </a:r>
            <a:br>
              <a:rPr lang="en-US" dirty="0"/>
            </a:br>
            <a:r>
              <a:rPr lang="en-US" dirty="0"/>
              <a:t>This approach ensures that all preprocessing steps are applied automatically and in the correct order, both for training and testing datasets.</a:t>
            </a:r>
            <a:br>
              <a:rPr lang="en-US" dirty="0"/>
            </a:br>
            <a:r>
              <a:rPr lang="en-US" dirty="0"/>
              <a:t>The entire pipeline can be exported and reused, which improves reproducibility and saves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7401E2-568D-2B45-951E-A0A8B6802C6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464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divided the data into training and testing sets using an 80 to 20 ratio.</a:t>
            </a:r>
            <a:br>
              <a:rPr lang="en-US" dirty="0"/>
            </a:br>
            <a:r>
              <a:rPr lang="en-US" dirty="0"/>
              <a:t>Stratification ensured that both sets had the same proportion of positive and negative cases.</a:t>
            </a:r>
            <a:br>
              <a:rPr lang="en-US" dirty="0"/>
            </a:br>
            <a:r>
              <a:rPr lang="en-US" dirty="0"/>
              <a:t>We trained the pipeline on the training data and then evaluated it on the test data to check generalization performance.</a:t>
            </a:r>
            <a:br>
              <a:rPr lang="en-US" dirty="0"/>
            </a:br>
            <a:r>
              <a:rPr lang="en-US" dirty="0"/>
              <a:t>Random seeds were fixed for full reproducibility.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7401E2-568D-2B45-951E-A0A8B6802C6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8020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baseline Logistic Regression achieved an accuracy of about 85 percent.</a:t>
            </a:r>
            <a:br>
              <a:rPr lang="en-US" dirty="0"/>
            </a:br>
            <a:r>
              <a:rPr lang="en-US" dirty="0"/>
              <a:t>Precision, recall, and F1-scores are balanced across both classes, which indicates that the model doesn’t favor one class over the other.</a:t>
            </a:r>
            <a:br>
              <a:rPr lang="en-US" dirty="0"/>
            </a:br>
            <a:r>
              <a:rPr lang="en-US" dirty="0"/>
              <a:t>These results confirm that our preprocessing steps worked correctly and produced meaningful input for the classifier.</a:t>
            </a:r>
            <a:br>
              <a:rPr lang="en-US" dirty="0"/>
            </a:br>
            <a:r>
              <a:rPr lang="en-US" dirty="0"/>
              <a:t>This performance will serve as our baseline for future model tuning and comparison in Milestone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7401E2-568D-2B45-951E-A0A8B6802C6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2870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Once the model and preprocessing pipeline were validated, we exported them as a single </a:t>
            </a:r>
            <a:r>
              <a:rPr lang="en-US" dirty="0" err="1"/>
              <a:t>joblib</a:t>
            </a:r>
            <a:r>
              <a:rPr lang="en-US" dirty="0"/>
              <a:t> file.</a:t>
            </a:r>
            <a:br>
              <a:rPr lang="en-US" dirty="0"/>
            </a:br>
            <a:r>
              <a:rPr lang="en-US" dirty="0"/>
              <a:t>This file includes all preprocessing steps and model parameters.</a:t>
            </a:r>
            <a:br>
              <a:rPr lang="en-US" dirty="0"/>
            </a:br>
            <a:r>
              <a:rPr lang="en-US" dirty="0"/>
              <a:t>By saving this artifact, we ensure that our entire process is reproducible — we can load it anytime and apply it to new data or additional models in the next milestone.</a:t>
            </a:r>
            <a:br>
              <a:rPr lang="en-US" dirty="0"/>
            </a:br>
            <a:r>
              <a:rPr lang="en-US" dirty="0"/>
              <a:t>Reproducibility is a key requirement for scientific and machine learning projects.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7401E2-568D-2B45-951E-A0A8B6802C6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677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To conclude, we completed the full preparation of the Heart Disease dataset.</a:t>
            </a:r>
            <a:br>
              <a:rPr lang="en-US" dirty="0"/>
            </a:br>
            <a:r>
              <a:rPr lang="en-US" dirty="0"/>
              <a:t>We explored and understood the data, confirmed its quality, and implemented a fully automated preprocessing pipeline.</a:t>
            </a:r>
            <a:br>
              <a:rPr lang="en-US" dirty="0"/>
            </a:br>
            <a:r>
              <a:rPr lang="en-US" dirty="0"/>
              <a:t>Our baseline model achieved 85 percent accuracy, which is a solid result for Logistic Regression.</a:t>
            </a:r>
            <a:br>
              <a:rPr lang="en-US" dirty="0"/>
            </a:br>
            <a:r>
              <a:rPr lang="en-US" dirty="0"/>
              <a:t>In Milestone 2, we plan to test more advanced models like Random Forests or Gradient Boosting,</a:t>
            </a:r>
            <a:br>
              <a:rPr lang="en-US" dirty="0"/>
            </a:br>
            <a:r>
              <a:rPr lang="en-US" dirty="0"/>
              <a:t>and to apply unsupervised techniques such as clustering and dimensionality reduction.</a:t>
            </a:r>
            <a:br>
              <a:rPr lang="en-US" dirty="0"/>
            </a:br>
            <a:r>
              <a:rPr lang="en-US" dirty="0"/>
              <a:t>The strong foundation built in this milestone allows us to focus entirely on model optimization in the next stage.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7401E2-568D-2B45-951E-A0A8B6802C6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602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AEFDE-9980-354C-9D19-1BB43497D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B52E95-BC48-8912-6A64-3167B40B31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C97AB-0486-8068-F7DF-BE6251FF7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254D0-7910-854C-B975-1DFFBCC9EDE6}" type="datetime1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2D882-90F7-A4E6-0293-424B74E79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Analysis of the Heart Disease Dataset</a:t>
            </a:r>
          </a:p>
          <a:p>
            <a:r>
              <a:rPr lang="en-US"/>
              <a:t>
Analysis of the Heart Disease Dataset</a:t>
            </a:r>
          </a:p>
          <a:p>
            <a:r>
              <a:rPr lang="en-US"/>
              <a:t>
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0AF94-BFC4-2AE2-8804-3C50808CA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94E5E-F527-A041-96F5-65B17B320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309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045A7-43E9-2631-3580-EB449A88A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070D8-AC89-767B-44C4-62793AC31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25670-BCA0-883B-891C-11C2AEAE2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41560-F549-CC4D-93D6-46AA8F9EA92F}" type="datetime1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ADAB6F-8E62-81E2-7F14-7E06DF76D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Analysis of the Heart Disease Dataset</a:t>
            </a:r>
          </a:p>
          <a:p>
            <a:r>
              <a:rPr lang="en-US"/>
              <a:t>
Analysis of the Heart Disease Dataset</a:t>
            </a:r>
          </a:p>
          <a:p>
            <a:r>
              <a:rPr lang="en-US"/>
              <a:t>
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94139-4394-7E48-9CCE-A0EC3E759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94E5E-F527-A041-96F5-65B17B320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488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3B0B1-7D06-2B1D-3AC4-898C4C420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287673-4AD7-ED71-6E47-4DC524F6C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32706-C17C-C618-69ED-1A726FE2A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DA207-DC9F-7442-877D-D84A2B4E4051}" type="datetime1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CE2E7-0444-3505-FBC9-579CDB306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Analysis of the Heart Disease Dataset</a:t>
            </a:r>
          </a:p>
          <a:p>
            <a:r>
              <a:rPr lang="en-US"/>
              <a:t>
Analysis of the Heart Disease Dataset</a:t>
            </a:r>
          </a:p>
          <a:p>
            <a:r>
              <a:rPr lang="en-US"/>
              <a:t>
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34E79-C6F3-BD7D-F50A-77968B88F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94E5E-F527-A041-96F5-65B17B320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680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3D034-7912-3C4A-D9BD-320933A68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F0016-5F51-89E2-1516-CAA601635D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C53E5-C427-B573-C02B-5DD5CC032E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399FBF-5560-1DE1-BF16-EDB983681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57B91-195D-A349-9D09-7BB1E4907747}" type="datetime1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2F29CB-FB6F-2E5A-70BF-556E5163B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Analysis of the Heart Disease Dataset</a:t>
            </a:r>
          </a:p>
          <a:p>
            <a:r>
              <a:rPr lang="en-US"/>
              <a:t>
Analysis of the Heart Disease Dataset</a:t>
            </a:r>
          </a:p>
          <a:p>
            <a:r>
              <a:rPr lang="en-US"/>
              <a:t>
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C25322-EEB8-02AD-2854-660E94B03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94E5E-F527-A041-96F5-65B17B320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48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1EA32-CD99-6988-20AC-0D6DF9F53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ADA0EF-7641-208F-BA14-266F3C8315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5A181A-87E9-238A-4864-A35446110E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D58B15-2E1F-B549-2015-EDF3178843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1A45E1-91F3-2B9F-D638-85C00F1F62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CD6EEF-F9A1-1CE1-8A29-111273B09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6889D-3DDC-6C48-B443-FE3E087A816F}" type="datetime1">
              <a:rPr lang="en-US" smtClean="0"/>
              <a:t>11/5/25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C714F9-54B3-A737-FFE9-5012CBAAF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Analysis of the Heart Disease Dataset</a:t>
            </a:r>
          </a:p>
          <a:p>
            <a:r>
              <a:rPr lang="en-US"/>
              <a:t>
Analysis of the Heart Disease Dataset</a:t>
            </a:r>
          </a:p>
          <a:p>
            <a:r>
              <a:rPr lang="en-US"/>
              <a:t>
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E19986-F3FC-6C37-4C90-80A1FBE44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94E5E-F527-A041-96F5-65B17B320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333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C59B8-2A43-6D8F-6070-E1F137A57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2D9CA8-1F34-D39B-AFC8-A2F5078DC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D4CB9-AD01-6C4D-A57F-ABAA8E57FFD7}" type="datetime1">
              <a:rPr lang="en-US" smtClean="0"/>
              <a:t>11/5/25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CE0CD8-8A10-8C48-FDE2-06A1393CC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Analysis of the Heart Disease Dataset</a:t>
            </a:r>
          </a:p>
          <a:p>
            <a:r>
              <a:rPr lang="en-US"/>
              <a:t>
Analysis of the Heart Disease Dataset</a:t>
            </a:r>
          </a:p>
          <a:p>
            <a:r>
              <a:rPr lang="en-US"/>
              <a:t>
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25D7F4-0B2E-45DE-6CCA-04EE97DDD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94E5E-F527-A041-96F5-65B17B320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050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D64F1E-D53A-E033-155B-0BAFCB981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E0D96-E967-4448-B78F-2A054B721FBD}" type="datetime1">
              <a:rPr lang="en-US" smtClean="0"/>
              <a:t>11/5/25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2D81D2-5DB4-3A0C-1702-783326DFF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Analysis of the Heart Disease Dataset</a:t>
            </a:r>
          </a:p>
          <a:p>
            <a:r>
              <a:rPr lang="en-US"/>
              <a:t>
Analysis of the Heart Disease Dataset</a:t>
            </a:r>
          </a:p>
          <a:p>
            <a:r>
              <a:rPr lang="en-US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D1D4F2-6032-4E58-40B2-41A51FE2F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94E5E-F527-A041-96F5-65B17B320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647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2DF16-5B4F-15FA-936F-19FE628EE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4D3A2-E76A-61CA-5E5C-7BFB0433F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0A0B4D-C5C9-4B07-C33A-6975338AD2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8627F1-CDAA-7115-6379-F2010EF0B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EB544-0C19-B042-9ED4-2062877DCBE9}" type="datetime1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65E0CF-157A-7FCD-DEB7-B34BA1E8D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Analysis of the Heart Disease Dataset</a:t>
            </a:r>
          </a:p>
          <a:p>
            <a:r>
              <a:rPr lang="en-US"/>
              <a:t>
Analysis of the Heart Disease Dataset</a:t>
            </a:r>
          </a:p>
          <a:p>
            <a:r>
              <a:rPr lang="en-US"/>
              <a:t>
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01253E-387A-200E-A22A-C895974D0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94E5E-F527-A041-96F5-65B17B320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836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4B67B-73E8-F378-88E8-3D32CD6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DB6E20-5597-DB2E-C446-64666CD09D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6A5DC2-CEA7-EE53-A230-CF0EAC0F31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E092B8-13F1-61CB-62C2-9E0EA8A06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6EC31-B76D-7147-AF9E-CFB5E467E9E0}" type="datetime1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8890D7-42FF-36BB-2A8A-EAC04CA0E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Analysis of the Heart Disease Dataset</a:t>
            </a:r>
          </a:p>
          <a:p>
            <a:r>
              <a:rPr lang="en-US"/>
              <a:t>
Analysis of the Heart Disease Dataset</a:t>
            </a:r>
          </a:p>
          <a:p>
            <a:r>
              <a:rPr lang="en-US"/>
              <a:t>
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21AE55-7568-92B0-C83B-027358ED6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94E5E-F527-A041-96F5-65B17B320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947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30547-39CE-0EE7-6C98-AA5E2C029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4BDCE7-27CD-2500-B023-E5A651A61A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27F83-8FCC-DFC4-A2BB-E781FC7AC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28DEA-E613-0545-8A6A-F9330C32DA1A}" type="datetime1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2E6C2-79E2-BD2B-50C5-0258037FB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Analysis of the Heart Disease Dataset</a:t>
            </a:r>
          </a:p>
          <a:p>
            <a:r>
              <a:rPr lang="en-US"/>
              <a:t>
Analysis of the Heart Disease Dataset</a:t>
            </a:r>
          </a:p>
          <a:p>
            <a:r>
              <a:rPr lang="en-US"/>
              <a:t>
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7AB5A-B26D-16D3-A9CB-C65DD1C74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94E5E-F527-A041-96F5-65B17B320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553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5B51D3-AF36-2084-02D7-63149DAFB3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690C7E-DB24-8C61-EE3B-CD9CE466C1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ABA3A3-093B-3E2C-4DC7-DEBA90BAE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55AF8-B937-A546-B031-5C96031B3689}" type="datetime1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50D2A-DFC1-437D-C094-7425E9D3A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Analysis of the Heart Disease Dataset</a:t>
            </a:r>
          </a:p>
          <a:p>
            <a:r>
              <a:rPr lang="en-US"/>
              <a:t>
Analysis of the Heart Disease Dataset</a:t>
            </a:r>
          </a:p>
          <a:p>
            <a:r>
              <a:rPr lang="en-US"/>
              <a:t>
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5C1CA-9D09-8D96-914C-593AE2807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94E5E-F527-A041-96F5-65B17B320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40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C3A6E4-6A48-E069-D343-208726005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19DA2-FDB0-8C80-2508-FC09B3103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15188-B982-EBB8-A65B-08AB0D6122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2BEEC8-59DF-7443-93FB-007D5279E252}" type="datetime1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C797C-837C-3B6F-DF58-EA90279371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Analysis of the Heart Disease Dataset</a:t>
            </a:r>
          </a:p>
          <a:p>
            <a:r>
              <a:rPr lang="en-US"/>
              <a:t>
Analysis of the Heart Disease Dataset</a:t>
            </a:r>
          </a:p>
          <a:p>
            <a:r>
              <a:rPr lang="en-US"/>
              <a:t>
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89E47-85E0-BA3F-9CF7-F25C9FA03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594E5E-F527-A041-96F5-65B17B320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978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0887E-F98F-770D-F3E0-B50552EF83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386" y="1547585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Data Preparation for Machine</a:t>
            </a:r>
            <a:b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Learning (M1)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F7EAA2-C348-0192-CA85-A70812705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1386" y="3935185"/>
            <a:ext cx="9144000" cy="165576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Analysis of the Heart Disease Dataset</a:t>
            </a:r>
          </a:p>
          <a:p>
            <a:pPr algn="l"/>
            <a:endParaRPr lang="en-US" dirty="0"/>
          </a:p>
        </p:txBody>
      </p:sp>
      <p:pic>
        <p:nvPicPr>
          <p:cNvPr id="1026" name="Picture 2" descr="logo-isec-transparente | Figueira TV">
            <a:extLst>
              <a:ext uri="{FF2B5EF4-FFF2-40B4-BE49-F238E27FC236}">
                <a16:creationId xmlns:a16="http://schemas.microsoft.com/office/drawing/2014/main" id="{D051834C-1F60-A9AE-7A5F-CDBA0EA8DE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2630" y="219529"/>
            <a:ext cx="2163683" cy="859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769D94-96F2-2CD4-F566-B91C653981A2}"/>
              </a:ext>
            </a:extLst>
          </p:cNvPr>
          <p:cNvSpPr txBox="1"/>
          <p:nvPr/>
        </p:nvSpPr>
        <p:spPr>
          <a:xfrm>
            <a:off x="201386" y="5992140"/>
            <a:ext cx="6098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Helvetica" pitchFamily="2" charset="0"/>
              </a:rPr>
              <a:t>Jakub Jakubowicz (2025121082)</a:t>
            </a:r>
          </a:p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Helvetica" pitchFamily="2" charset="0"/>
              </a:rPr>
              <a:t>Gracjan Jasnos (2025109276)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C86B80-551E-217E-AED7-8FDC77DA2C93}"/>
              </a:ext>
            </a:extLst>
          </p:cNvPr>
          <p:cNvSpPr txBox="1"/>
          <p:nvPr/>
        </p:nvSpPr>
        <p:spPr>
          <a:xfrm>
            <a:off x="10047514" y="6315305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Helvetica" pitchFamily="2" charset="0"/>
              </a:rPr>
              <a:t>November 2025</a:t>
            </a:r>
          </a:p>
        </p:txBody>
      </p:sp>
    </p:spTree>
    <p:extLst>
      <p:ext uri="{BB962C8B-B14F-4D97-AF65-F5344CB8AC3E}">
        <p14:creationId xmlns:p14="http://schemas.microsoft.com/office/powerpoint/2010/main" val="1597658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88DFF-A349-652E-D661-FCC6A8476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Project Objectives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38D63580-CB7E-D764-4073-A26168C66D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84330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3F9E0C-B6D3-0722-66EC-64480B94B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Analysis of the Heart Disease Dataset</a:t>
            </a:r>
          </a:p>
          <a:p>
            <a:r>
              <a:rPr lang="en-US" dirty="0"/>
              <a:t>
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DFABF6-75CF-C766-E74F-D566B6FA8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94E5E-F527-A041-96F5-65B17B320E1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856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C987EB-3F37-DC3A-36FC-18B6E6413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 dirty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Dataset Overview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8CB291-6D54-C0A8-658F-E1FF57A238BB}"/>
              </a:ext>
            </a:extLst>
          </p:cNvPr>
          <p:cNvSpPr txBox="1"/>
          <p:nvPr/>
        </p:nvSpPr>
        <p:spPr>
          <a:xfrm>
            <a:off x="5351164" y="586822"/>
            <a:ext cx="6002636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14 features</a:t>
            </a:r>
            <a:endParaRPr lang="en-US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Binary target (0 = No disease | 1 = Disease)</a:t>
            </a:r>
            <a:endParaRPr lang="en-US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Mixed types: numerical + categorical + ordinal</a:t>
            </a:r>
            <a:endParaRPr lang="en-US"/>
          </a:p>
        </p:txBody>
      </p:sp>
      <p:pic>
        <p:nvPicPr>
          <p:cNvPr id="7" name="Content Placeholder 6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A1247685-544F-00E7-BD1A-8839F5CF31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57784" y="2940825"/>
            <a:ext cx="11164824" cy="3070326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0C8F3-5FB5-133D-15E4-B9BE79F52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t>Analysis of the Heart Disease Dataset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03C4D-ABBB-968E-30DD-4B1116E84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2594E5E-F527-A041-96F5-65B17B320E10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3" name="Picture 2" descr="logo-isec-transparente | Figueira TV">
            <a:extLst>
              <a:ext uri="{FF2B5EF4-FFF2-40B4-BE49-F238E27FC236}">
                <a16:creationId xmlns:a16="http://schemas.microsoft.com/office/drawing/2014/main" id="{C0C11D84-C5D9-2389-144C-9C6BEABDC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407" y="6228143"/>
            <a:ext cx="1039586" cy="412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2756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8ABFA-7871-6C6E-F3A5-014585AB1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07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Descriptive Statistics</a:t>
            </a:r>
          </a:p>
        </p:txBody>
      </p:sp>
      <p:pic>
        <p:nvPicPr>
          <p:cNvPr id="7" name="Content Placeholder 6" descr="A table with numbers and a number of objects&#10;&#10;AI-generated content may be incorrect.">
            <a:extLst>
              <a:ext uri="{FF2B5EF4-FFF2-40B4-BE49-F238E27FC236}">
                <a16:creationId xmlns:a16="http://schemas.microsoft.com/office/drawing/2014/main" id="{925D6C05-D351-86BE-18BE-7F029D4489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441782" y="1690688"/>
            <a:ext cx="5308435" cy="4351338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724937-147A-D3ED-19D3-EEE8DA617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Analysis of the Heart Disease Dataset</a:t>
            </a:r>
          </a:p>
          <a:p>
            <a:r>
              <a:rPr lang="en-US" dirty="0"/>
              <a:t>
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0A9028-3D5F-1DC7-CA97-226DC10F5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94E5E-F527-A041-96F5-65B17B320E10}" type="slidenum">
              <a:rPr lang="en-US" smtClean="0"/>
              <a:t>5</a:t>
            </a:fld>
            <a:endParaRPr lang="en-US"/>
          </a:p>
        </p:txBody>
      </p:sp>
      <p:pic>
        <p:nvPicPr>
          <p:cNvPr id="10" name="Picture 2" descr="logo-isec-transparente | Figueira TV">
            <a:extLst>
              <a:ext uri="{FF2B5EF4-FFF2-40B4-BE49-F238E27FC236}">
                <a16:creationId xmlns:a16="http://schemas.microsoft.com/office/drawing/2014/main" id="{1956CAA8-8E7C-088F-4450-A80DBFEE8E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407" y="6244472"/>
            <a:ext cx="1039586" cy="412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3757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0B2D9-ECE6-2492-680A-0E534BA45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07" y="426696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Feature Types &amp; Encoding Plan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7BF4078-0E10-2EA1-5135-2E12D956C2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4852961"/>
              </p:ext>
            </p:extLst>
          </p:nvPr>
        </p:nvGraphicFramePr>
        <p:xfrm>
          <a:off x="838200" y="2625634"/>
          <a:ext cx="10515600" cy="219456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89588036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28429745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120790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Encoding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536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Categorical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One-Hot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77690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Ordinal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One-Hot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7026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fbs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Binary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0495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thalach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Numerical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StandardScaler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8016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oldpeak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Numerical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StandardScaler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1613038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69D6A-AC9E-76D4-3178-8FB0AEE15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Analysis of the Heart Disease Dataset</a:t>
            </a:r>
          </a:p>
          <a:p>
            <a:r>
              <a:rPr lang="en-US" dirty="0"/>
              <a:t>
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03AFAF-F0A5-DFA7-48AF-2D9E72EF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94E5E-F527-A041-96F5-65B17B320E10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2" descr="logo-isec-transparente | Figueira TV">
            <a:extLst>
              <a:ext uri="{FF2B5EF4-FFF2-40B4-BE49-F238E27FC236}">
                <a16:creationId xmlns:a16="http://schemas.microsoft.com/office/drawing/2014/main" id="{07148E7D-2C31-752A-B180-1CE8C8634E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407" y="6228143"/>
            <a:ext cx="1039586" cy="412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0594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1347A-EB5D-6363-5711-516953A78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903" y="160926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Exploratory Data Analysis (Target &amp; Correlations)</a:t>
            </a:r>
          </a:p>
        </p:txBody>
      </p:sp>
      <p:pic>
        <p:nvPicPr>
          <p:cNvPr id="7" name="Content Placeholder 6" descr="A graph of a distribution of heart disease&#10;&#10;AI-generated content may be incorrect.">
            <a:extLst>
              <a:ext uri="{FF2B5EF4-FFF2-40B4-BE49-F238E27FC236}">
                <a16:creationId xmlns:a16="http://schemas.microsoft.com/office/drawing/2014/main" id="{9E3937DC-07C6-746E-D4F9-6D2F819054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19629" y="1445022"/>
            <a:ext cx="5095560" cy="4220368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8ECCA-9AA1-9C16-44E7-4F1F0F01B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Analysis of the Heart Disease Dataset</a:t>
            </a:r>
          </a:p>
          <a:p>
            <a:r>
              <a:rPr lang="en-US" dirty="0"/>
              <a:t>
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BE91CB-D0B0-D6BA-B525-C49441345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94E5E-F527-A041-96F5-65B17B320E10}" type="slidenum">
              <a:rPr lang="en-US" smtClean="0"/>
              <a:t>7</a:t>
            </a:fld>
            <a:endParaRPr lang="en-US"/>
          </a:p>
        </p:txBody>
      </p:sp>
      <p:pic>
        <p:nvPicPr>
          <p:cNvPr id="9" name="Picture 8" descr="A diagram of a heatmap&#10;&#10;AI-generated content may be incorrect.">
            <a:extLst>
              <a:ext uri="{FF2B5EF4-FFF2-40B4-BE49-F238E27FC236}">
                <a16:creationId xmlns:a16="http://schemas.microsoft.com/office/drawing/2014/main" id="{398868F4-0670-8EC7-255E-9D516D7C5F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464" y="1690688"/>
            <a:ext cx="4824186" cy="4257264"/>
          </a:xfrm>
          <a:prstGeom prst="rect">
            <a:avLst/>
          </a:prstGeom>
        </p:spPr>
      </p:pic>
      <p:pic>
        <p:nvPicPr>
          <p:cNvPr id="12" name="Picture 2" descr="logo-isec-transparente | Figueira TV">
            <a:extLst>
              <a:ext uri="{FF2B5EF4-FFF2-40B4-BE49-F238E27FC236}">
                <a16:creationId xmlns:a16="http://schemas.microsoft.com/office/drawing/2014/main" id="{273F4360-2D04-AA86-FDE3-8CAD210959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407" y="6228143"/>
            <a:ext cx="1039586" cy="412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2691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13D96-B898-6094-4E9B-BE34A79FD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07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Data Quality Validation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E7B351F-4F5B-0ABC-B1A3-ED2FEF1263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53200" y="1690688"/>
            <a:ext cx="4114800" cy="3922381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AC38B8-DCF7-BEE7-25E7-1BA4424F1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Analysis of the Heart Disease Dataset</a:t>
            </a:r>
          </a:p>
          <a:p>
            <a:r>
              <a:rPr lang="en-US" dirty="0"/>
              <a:t>
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F7FA98-7D1E-1B2C-EF94-1D59CFAEA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94E5E-F527-A041-96F5-65B17B320E10}" type="slidenum">
              <a:rPr lang="en-US" smtClean="0"/>
              <a:t>8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406CC5-788C-3D23-48E5-3B17B2E555BC}"/>
              </a:ext>
            </a:extLst>
          </p:cNvPr>
          <p:cNvSpPr txBox="1"/>
          <p:nvPr/>
        </p:nvSpPr>
        <p:spPr>
          <a:xfrm>
            <a:off x="838200" y="1877129"/>
            <a:ext cx="411479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No missing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Consistent data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Duplicates handled internally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i="1" dirty="0"/>
              <a:t>Dataset ready for feature preprocessing.</a:t>
            </a:r>
            <a:endParaRPr lang="en-US" sz="2000" dirty="0"/>
          </a:p>
        </p:txBody>
      </p:sp>
      <p:pic>
        <p:nvPicPr>
          <p:cNvPr id="10" name="Picture 2" descr="logo-isec-transparente | Figueira TV">
            <a:extLst>
              <a:ext uri="{FF2B5EF4-FFF2-40B4-BE49-F238E27FC236}">
                <a16:creationId xmlns:a16="http://schemas.microsoft.com/office/drawing/2014/main" id="{3CDDAEF4-8138-F5F1-A8BD-E200B3A8FA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407" y="6228143"/>
            <a:ext cx="1039586" cy="412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9683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4D544-76F4-7C48-5B4A-0CF39B341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07" y="406231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Pipeline Structure &amp; Implementation</a:t>
            </a:r>
          </a:p>
        </p:txBody>
      </p:sp>
      <p:pic>
        <p:nvPicPr>
          <p:cNvPr id="7" name="Content Placeholder 6" descr="A white rectangular object with black text&#10;&#10;AI-generated content may be incorrect.">
            <a:extLst>
              <a:ext uri="{FF2B5EF4-FFF2-40B4-BE49-F238E27FC236}">
                <a16:creationId xmlns:a16="http://schemas.microsoft.com/office/drawing/2014/main" id="{9809135F-2324-7512-94C7-C2208C538A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0945" y="2182814"/>
            <a:ext cx="10990110" cy="1945935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910018-9EF1-F4D6-387C-8A6C9C590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Analysis of the Heart Disease Dataset</a:t>
            </a:r>
          </a:p>
          <a:p>
            <a:r>
              <a:rPr lang="en-US" dirty="0"/>
              <a:t>
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063783-046B-127C-1360-12717183F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94E5E-F527-A041-96F5-65B17B320E10}" type="slidenum">
              <a:rPr lang="en-US" smtClean="0"/>
              <a:t>9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05BD34-4C29-8301-587F-04B9A80709C4}"/>
              </a:ext>
            </a:extLst>
          </p:cNvPr>
          <p:cNvSpPr txBox="1"/>
          <p:nvPr/>
        </p:nvSpPr>
        <p:spPr>
          <a:xfrm>
            <a:off x="2899683" y="4719329"/>
            <a:ext cx="8307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Raw Data → [Encoder + Scaler] → Model</a:t>
            </a:r>
          </a:p>
        </p:txBody>
      </p:sp>
      <p:pic>
        <p:nvPicPr>
          <p:cNvPr id="11" name="Picture 2" descr="logo-isec-transparente | Figueira TV">
            <a:extLst>
              <a:ext uri="{FF2B5EF4-FFF2-40B4-BE49-F238E27FC236}">
                <a16:creationId xmlns:a16="http://schemas.microsoft.com/office/drawing/2014/main" id="{F786E70D-65E0-31D1-43AE-43CDFAAE54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407" y="6228143"/>
            <a:ext cx="1039586" cy="412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4200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4FF39-F012-A5CD-4124-6326ECA57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07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Train–test Split &amp; Model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1AB00-8D5B-CA87-1374-D7136DEBB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2172" y="536447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dataset → 80% train / 20% test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C730BC-B5AC-349B-28AE-E19589590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Analysis of the Heart Disease Dataset</a:t>
            </a:r>
          </a:p>
          <a:p>
            <a:r>
              <a:rPr lang="en-US" dirty="0"/>
              <a:t>
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1CD937-EE9A-60E9-F766-7D252C3E3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94E5E-F527-A041-96F5-65B17B320E10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040229E-C58C-D4A8-87F2-42F3E0AEA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172" y="1690688"/>
            <a:ext cx="5998028" cy="4062157"/>
          </a:xfrm>
          <a:prstGeom prst="rect">
            <a:avLst/>
          </a:prstGeom>
        </p:spPr>
      </p:pic>
      <p:pic>
        <p:nvPicPr>
          <p:cNvPr id="8" name="Picture 2" descr="logo-isec-transparente | Figueira TV">
            <a:extLst>
              <a:ext uri="{FF2B5EF4-FFF2-40B4-BE49-F238E27FC236}">
                <a16:creationId xmlns:a16="http://schemas.microsoft.com/office/drawing/2014/main" id="{05103174-89A3-681D-2E51-0973544D26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407" y="6228143"/>
            <a:ext cx="1039586" cy="412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699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2FB54-A66E-C19E-5565-11CEAC9B4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07" y="358792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Baseline Results</a:t>
            </a:r>
          </a:p>
        </p:txBody>
      </p:sp>
      <p:pic>
        <p:nvPicPr>
          <p:cNvPr id="7" name="Content Placeholder 6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5ABF3617-5173-54FC-D662-83894282BE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15459" y="2200971"/>
            <a:ext cx="7990546" cy="2972674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F31988-249A-75A1-62BC-FF1A276AC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Analysis of the Heart Disease Dataset</a:t>
            </a:r>
          </a:p>
          <a:p>
            <a:r>
              <a:rPr lang="en-US" dirty="0"/>
              <a:t>
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07E492-A2F0-56CA-932D-27BA4F779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94E5E-F527-A041-96F5-65B17B320E10}" type="slidenum">
              <a:rPr lang="en-US" smtClean="0"/>
              <a:t>11</a:t>
            </a:fld>
            <a:endParaRPr lang="en-US"/>
          </a:p>
        </p:txBody>
      </p:sp>
      <p:pic>
        <p:nvPicPr>
          <p:cNvPr id="9" name="Picture 2" descr="logo-isec-transparente | Figueira TV">
            <a:extLst>
              <a:ext uri="{FF2B5EF4-FFF2-40B4-BE49-F238E27FC236}">
                <a16:creationId xmlns:a16="http://schemas.microsoft.com/office/drawing/2014/main" id="{D389CB23-B760-7797-81DE-D6973EB82D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407" y="6228143"/>
            <a:ext cx="1039586" cy="412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9259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1866D-153D-72B5-9CDC-30182666E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07" y="411574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Pipeline Export &amp; Reproducibility</a:t>
            </a:r>
          </a:p>
        </p:txBody>
      </p:sp>
      <p:pic>
        <p:nvPicPr>
          <p:cNvPr id="7" name="Content Placeholder 6" descr="A close-up of a web page&#10;&#10;AI-generated content may be incorrect.">
            <a:extLst>
              <a:ext uri="{FF2B5EF4-FFF2-40B4-BE49-F238E27FC236}">
                <a16:creationId xmlns:a16="http://schemas.microsoft.com/office/drawing/2014/main" id="{D76B49E7-E963-EAA3-4C0A-102D3FDA17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451893"/>
            <a:ext cx="7426062" cy="1646577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2923DA-513C-6A51-5B27-31F1C1DB1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Analysis of the Heart Disease Dataset</a:t>
            </a:r>
          </a:p>
          <a:p>
            <a:r>
              <a:rPr lang="en-US" dirty="0"/>
              <a:t>
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90D829-FE3B-13D0-8F90-8A9020722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94E5E-F527-A041-96F5-65B17B320E10}" type="slidenum">
              <a:rPr lang="en-US" smtClean="0"/>
              <a:t>12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75AD37-891A-A6BE-18F0-4FD50A5E5964}"/>
              </a:ext>
            </a:extLst>
          </p:cNvPr>
          <p:cNvSpPr txBox="1"/>
          <p:nvPr/>
        </p:nvSpPr>
        <p:spPr>
          <a:xfrm>
            <a:off x="838200" y="4202420"/>
            <a:ext cx="6098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Full preprocessing + model saved for future reuse.</a:t>
            </a:r>
            <a:endParaRPr lang="en-US" sz="20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10" name="Picture 2" descr="logo-isec-transparente | Figueira TV">
            <a:extLst>
              <a:ext uri="{FF2B5EF4-FFF2-40B4-BE49-F238E27FC236}">
                <a16:creationId xmlns:a16="http://schemas.microsoft.com/office/drawing/2014/main" id="{8E7CF590-649B-428F-A6FE-FF7E10481F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407" y="6228143"/>
            <a:ext cx="1039586" cy="412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9069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3E504-6FCE-8D59-0DFF-9C5D864ED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07" y="410368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Summary &amp; Next Steps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41C275D1-99BD-FE9F-0717-AD7F6688DD7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9E9767-130B-47C3-E37C-65D2037AF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Analysis of the Heart Disease Dataset</a:t>
            </a:r>
          </a:p>
          <a:p>
            <a:r>
              <a:rPr lang="en-US" dirty="0"/>
              <a:t>
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C866B3-FC5C-3B7A-7D9A-16553005B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94E5E-F527-A041-96F5-65B17B320E10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2" descr="logo-isec-transparente | Figueira TV">
            <a:extLst>
              <a:ext uri="{FF2B5EF4-FFF2-40B4-BE49-F238E27FC236}">
                <a16:creationId xmlns:a16="http://schemas.microsoft.com/office/drawing/2014/main" id="{89B41F74-6EE6-F2B2-D0B1-B51479A61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407" y="6228143"/>
            <a:ext cx="1039586" cy="412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4939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BAFC5-4A8A-0930-5CFE-AC2441395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07" y="381453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Thank you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A4526D-DC02-88FB-E3D0-3FBB0001E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Analysis of the Heart Disease Dataset</a:t>
            </a:r>
          </a:p>
          <a:p>
            <a:r>
              <a:rPr lang="en-US" dirty="0"/>
              <a:t>
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85D58A-BA27-809F-C985-C254A3821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94E5E-F527-A041-96F5-65B17B320E10}" type="slidenum">
              <a:rPr lang="en-US" smtClean="0"/>
              <a:t>14</a:t>
            </a:fld>
            <a:endParaRPr lang="en-US"/>
          </a:p>
        </p:txBody>
      </p:sp>
      <p:pic>
        <p:nvPicPr>
          <p:cNvPr id="7" name="Picture 2" descr="logo-isec-transparente | Figueira TV">
            <a:extLst>
              <a:ext uri="{FF2B5EF4-FFF2-40B4-BE49-F238E27FC236}">
                <a16:creationId xmlns:a16="http://schemas.microsoft.com/office/drawing/2014/main" id="{95FEDDF6-69BF-5324-D9D0-E7F64BC0C0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407" y="6228143"/>
            <a:ext cx="1039586" cy="412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9559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1329</Words>
  <Application>Microsoft Macintosh PowerPoint</Application>
  <PresentationFormat>Widescreen</PresentationFormat>
  <Paragraphs>112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Helvetica</vt:lpstr>
      <vt:lpstr>Office Theme</vt:lpstr>
      <vt:lpstr>Data Preparation for Machine Learning (M1)</vt:lpstr>
      <vt:lpstr>Project Objectives</vt:lpstr>
      <vt:lpstr>Dataset Overview</vt:lpstr>
      <vt:lpstr>Descriptive Statistics</vt:lpstr>
      <vt:lpstr>Feature Types &amp; Encoding Plan</vt:lpstr>
      <vt:lpstr>Exploratory Data Analysis (Target &amp; Correlations)</vt:lpstr>
      <vt:lpstr>Data Quality Validation</vt:lpstr>
      <vt:lpstr>Pipeline Structure &amp; Implementation</vt:lpstr>
      <vt:lpstr>Train–test Split &amp; Model Training</vt:lpstr>
      <vt:lpstr>Baseline Results</vt:lpstr>
      <vt:lpstr>Pipeline Export &amp; Reproducibility</vt:lpstr>
      <vt:lpstr>Summary &amp; Next Steps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Gracjan Adam Jasnos</dc:creator>
  <cp:lastModifiedBy>Gracjan Adam Jasnos</cp:lastModifiedBy>
  <cp:revision>2</cp:revision>
  <dcterms:created xsi:type="dcterms:W3CDTF">2025-11-05T17:21:47Z</dcterms:created>
  <dcterms:modified xsi:type="dcterms:W3CDTF">2025-11-05T18:28:27Z</dcterms:modified>
</cp:coreProperties>
</file>